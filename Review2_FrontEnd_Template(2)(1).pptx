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embeddedFontLst>
    <p:embeddedFont>
      <p:font typeface="Comfortaa SemiBold"/>
      <p:regular r:id="rId13"/>
      <p:bold r:id="rId14"/>
    </p:embeddedFont>
    <p:embeddedFont>
      <p:font typeface="Oswald Medium"/>
      <p:regular r:id="rId15"/>
      <p:bold r:id="rId16"/>
    </p:embeddedFont>
    <p:embeddedFont>
      <p:font typeface="Oswald Light"/>
      <p:regular r:id="rId17"/>
      <p:bold r:id="rId18"/>
    </p:embeddedFont>
    <p:embeddedFont>
      <p:font typeface="Oswald"/>
      <p:regular r:id="rId19"/>
      <p:bold r:id="rId20"/>
    </p:embeddedFont>
    <p:embeddedFont>
      <p:font typeface="Comfortaa Medium"/>
      <p:regular r:id="rId21"/>
      <p:bold r:id="rId22"/>
    </p:embeddedFon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FA1782-C1EC-44E8-9682-3D4A9A390F81}">
  <a:tblStyle styleId="{BBFA1782-C1EC-44E8-9682-3D4A9A390F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5.xml"/><Relationship Id="rId22" Type="http://schemas.openxmlformats.org/officeDocument/2006/relationships/font" Target="fonts/ComfortaaMedium-bold.fntdata"/><Relationship Id="rId10" Type="http://schemas.openxmlformats.org/officeDocument/2006/relationships/slide" Target="slides/slide4.xml"/><Relationship Id="rId21" Type="http://schemas.openxmlformats.org/officeDocument/2006/relationships/font" Target="fonts/ComfortaaMedium-regular.fntdata"/><Relationship Id="rId13" Type="http://schemas.openxmlformats.org/officeDocument/2006/relationships/font" Target="fonts/ComfortaaSemiBold-regular.fntdata"/><Relationship Id="rId24" Type="http://schemas.openxmlformats.org/officeDocument/2006/relationships/font" Target="fonts/Comfortaa-bold.fntdata"/><Relationship Id="rId12" Type="http://schemas.openxmlformats.org/officeDocument/2006/relationships/slide" Target="slides/slide6.xml"/><Relationship Id="rId23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OswaldMedium-regular.fntdata"/><Relationship Id="rId14" Type="http://schemas.openxmlformats.org/officeDocument/2006/relationships/font" Target="fonts/ComfortaaSemiBold-bold.fntdata"/><Relationship Id="rId17" Type="http://schemas.openxmlformats.org/officeDocument/2006/relationships/font" Target="fonts/OswaldLight-regular.fntdata"/><Relationship Id="rId16" Type="http://schemas.openxmlformats.org/officeDocument/2006/relationships/font" Target="fonts/OswaldMedium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swald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hyperlink" Target="https://react.dev" TargetMode="External"/><Relationship Id="rId5" Type="http://schemas.openxmlformats.org/officeDocument/2006/relationships/hyperlink" Target="https://vuejs.org" TargetMode="External"/><Relationship Id="rId6" Type="http://schemas.openxmlformats.org/officeDocument/2006/relationships/hyperlink" Target="http://vuejs.org" TargetMode="External"/><Relationship Id="rId7" Type="http://schemas.openxmlformats.org/officeDocument/2006/relationships/hyperlink" Target="https://angular.i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42950" y="462625"/>
            <a:ext cx="88581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Project Review-2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(Literature Review / Applications Survey)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554" y="5566734"/>
            <a:ext cx="3883842" cy="119575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-314100" y="2394850"/>
            <a:ext cx="9772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FRONT END DEVELOPMENT FRAMEWORKS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4700" y="3626350"/>
            <a:ext cx="94578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K.Nihal reddy - 2410030198-CSE , D.Dev Rajeev-2410030112-CSE, S.Mahendra babu-2410030119-CSE, E.Chandravardan Rao-2410030290-CSE</a:t>
            </a:r>
            <a:endParaRPr sz="25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-64349"/>
            <a:ext cx="8229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Relevance to Project Title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7918" y="5566734"/>
            <a:ext cx="3346515" cy="119575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16400" y="2476338"/>
            <a:ext cx="83112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Importance of Front-end Frameworks:</a:t>
            </a:r>
            <a:endParaRPr sz="2200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Enhanced User Experience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Efficient State Management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Handles dynamic data</a:t>
            </a:r>
            <a:b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High Performance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-77400" y="1385663"/>
            <a:ext cx="876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Note-</a:t>
            </a: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Verse-Secured Notes is a secure digital notebook that encrypts your content, lets you organize with tags, and quickly find information through a powerful search feature.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16400" y="4350813"/>
            <a:ext cx="8576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The High relevance to front-end development</a:t>
            </a:r>
            <a:r>
              <a:rPr lang="en-US" sz="2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endParaRPr sz="2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React (Meta, 2013) | </a:t>
            </a:r>
            <a:r>
              <a:rPr lang="en-US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4"/>
              </a:rPr>
              <a:t>react.dev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Vue.js (Evan You, 2014) |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6"/>
              </a:rPr>
              <a:t>vuejs.org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Angular (Google, 2010) –</a:t>
            </a:r>
            <a:r>
              <a:rPr lang="en-US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7"/>
              </a:rPr>
              <a:t>angular.io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66000" y="59625"/>
            <a:ext cx="8938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NOTE-VERSE – Literature Review &amp; Front-End Options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205500" y="1246450"/>
            <a:ext cx="89385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870">
                <a:latin typeface="Comfortaa"/>
                <a:ea typeface="Comfortaa"/>
                <a:cs typeface="Comfortaa"/>
                <a:sym typeface="Comfortaa"/>
              </a:rPr>
              <a:t>Key Points:</a:t>
            </a:r>
            <a:endParaRPr sz="1870">
              <a:latin typeface="Comfortaa"/>
              <a:ea typeface="Comfortaa"/>
              <a:cs typeface="Comfortaa"/>
              <a:sym typeface="Comfortaa"/>
            </a:endParaRPr>
          </a:p>
          <a:p>
            <a:pPr indent="-3473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70"/>
              <a:buFont typeface="Comfortaa"/>
              <a:buChar char="●"/>
            </a:pPr>
            <a:r>
              <a:rPr lang="en-US" sz="1870">
                <a:latin typeface="Comfortaa"/>
                <a:ea typeface="Comfortaa"/>
                <a:cs typeface="Comfortaa"/>
                <a:sym typeface="Comfortaa"/>
              </a:rPr>
              <a:t>Reviewed 3 existing online note-taking platforms with relevant features.</a:t>
            </a:r>
            <a:endParaRPr sz="1970">
              <a:latin typeface="Comfortaa"/>
              <a:ea typeface="Comfortaa"/>
              <a:cs typeface="Comfortaa"/>
              <a:sym typeface="Comfortaa"/>
            </a:endParaRPr>
          </a:p>
          <a:p>
            <a:pPr indent="-3473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70"/>
              <a:buFont typeface="Comfortaa"/>
              <a:buChar char="●"/>
            </a:pPr>
            <a:r>
              <a:rPr lang="en-US" sz="1870">
                <a:latin typeface="Comfortaa"/>
                <a:ea typeface="Comfortaa"/>
                <a:cs typeface="Comfortaa"/>
                <a:sym typeface="Comfortaa"/>
              </a:rPr>
              <a:t>Selected React/Vue + PWA as most suitable approach. </a:t>
            </a:r>
            <a:endParaRPr sz="187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70">
                <a:latin typeface="Comfortaa"/>
                <a:ea typeface="Comfortaa"/>
                <a:cs typeface="Comfortaa"/>
                <a:sym typeface="Comfortaa"/>
              </a:rPr>
              <a:t>SUMMARY-TABLE</a:t>
            </a:r>
            <a:endParaRPr sz="187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7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70"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20"/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4723" y="5477159"/>
            <a:ext cx="2818614" cy="11957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15"/>
          <p:cNvGraphicFramePr/>
          <p:nvPr/>
        </p:nvGraphicFramePr>
        <p:xfrm>
          <a:off x="592938" y="316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{BBFA1782-C1EC-44E8-9682-3D4A9A390F81}</a:tableStyleId>
              </a:tblPr>
              <a:tblGrid>
                <a:gridCol w="1576925"/>
                <a:gridCol w="1576925"/>
                <a:gridCol w="1576925"/>
                <a:gridCol w="1576925"/>
                <a:gridCol w="1576925"/>
              </a:tblGrid>
              <a:tr h="850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Name / Framework</a:t>
                      </a:r>
                      <a:endParaRPr sz="16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  </a:t>
                      </a:r>
                      <a:r>
                        <a:rPr lang="en-US" sz="16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      </a:t>
                      </a:r>
                      <a:r>
                        <a:rPr lang="en-US" sz="16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Year</a:t>
                      </a:r>
                      <a:endParaRPr sz="16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Author / Source</a:t>
                      </a:r>
                      <a:endParaRPr sz="15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Key Idea</a:t>
                      </a:r>
                      <a:endParaRPr sz="15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Relevance</a:t>
                      </a:r>
                      <a:endParaRPr sz="1500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Svelte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2016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Rich </a:t>
                      </a: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Harris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Compiles to minimal JS, very fast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Great for real-time updates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Angular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2010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Google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Full-featured MVC framework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Structured, scalable apps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Notepad.js PWA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2012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Notepad.js.org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Offline-capable notepad using local storage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PWA &amp; offline feature model</a:t>
                      </a:r>
                      <a:endParaRPr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Critical Analysis, Synthesis &amp; Gap Identification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87300" y="1417650"/>
            <a:ext cx="8756700" cy="4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Char char="•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Popular note-taking apps excel in cloud sync, cross-platform access, and collaboration.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Char char="•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Many are resource-heavy with cluttered UIs, causing slow performance on low-end devices, while their complex interfaces 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Char char="•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Note Verse focuses on delivering a minimalist yet feature-rich experience with a clean UI, fast performance, offline accessibility, and customizable layouts.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•"/>
            </a:pPr>
            <a:r>
              <a:rPr lang="en-US" sz="1800">
                <a:latin typeface="Comfortaa"/>
                <a:ea typeface="Comfortaa"/>
                <a:cs typeface="Comfortaa"/>
                <a:sym typeface="Comfortaa"/>
              </a:rPr>
              <a:t> It aims to combine the simplicity of lightweight note apps with the power of advanced organization</a:t>
            </a:r>
            <a:endParaRPr sz="1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9398" y="5662234"/>
            <a:ext cx="2818614" cy="119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98500" y="0"/>
            <a:ext cx="872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Project Implementation Started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85450" y="1240850"/>
            <a:ext cx="9301800" cy="5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450">
                <a:latin typeface="Comfortaa SemiBold"/>
                <a:ea typeface="Comfortaa SemiBold"/>
                <a:cs typeface="Comfortaa SemiBold"/>
                <a:sym typeface="Comfortaa SemiBold"/>
              </a:rPr>
              <a:t>Frameworks, Libraries, or Tools Used</a:t>
            </a:r>
            <a:endParaRPr sz="6450"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HTML5 – Core structure for all pages.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CSS Flexbox &amp; CSS Grid – Layout and alignment.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Bootstrap – Responsive design and ready-made UI components.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Vanilla JavaScript – Functionality for notes, tasks, and OCR integration.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50"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450">
                <a:latin typeface="Comfortaa SemiBold"/>
                <a:ea typeface="Comfortaa SemiBold"/>
                <a:cs typeface="Comfortaa SemiBold"/>
                <a:sym typeface="Comfortaa SemiBold"/>
              </a:rPr>
              <a:t>Expected Milestones for Next Review</a:t>
            </a:r>
            <a:endParaRPr sz="6450"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Integrate OCR (Image-to-Text) using Tesseract.js.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Add note editing and basic text formatting options.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-330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US" sz="6450">
                <a:latin typeface="Comfortaa"/>
                <a:ea typeface="Comfortaa"/>
                <a:cs typeface="Comfortaa"/>
                <a:sym typeface="Comfortaa"/>
              </a:rPr>
              <a:t>Enhance UI with better responsiveness and optional dark mode.</a:t>
            </a:r>
            <a:endParaRPr sz="645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swald"/>
              <a:ea typeface="Oswald"/>
              <a:cs typeface="Oswald"/>
              <a:sym typeface="Oswald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0723" y="5662234"/>
            <a:ext cx="2818614" cy="119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